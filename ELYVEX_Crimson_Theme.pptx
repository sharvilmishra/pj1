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ns Bold" charset="1" panose="00000000000000000000"/>
      <p:regular r:id="rId18"/>
    </p:embeddedFont>
    <p:embeddedFont>
      <p:font typeface="Montserrat Bold" charset="1" panose="00000800000000000000"/>
      <p:regular r:id="rId19"/>
    </p:embeddedFont>
    <p:embeddedFont>
      <p:font typeface="Open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7500" y="0"/>
            <a:ext cx="19050" cy="10287000"/>
            <a:chOff x="0" y="0"/>
            <a:chExt cx="25400" cy="13716000"/>
          </a:xfrm>
        </p:grpSpPr>
      </p:grpSp>
      <p:grpSp>
        <p:nvGrpSpPr>
          <p:cNvPr name="Group 5" id="5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</p:grpSp>
      <p:sp>
        <p:nvSpPr>
          <p:cNvPr name="TextBox 8" id="8"/>
          <p:cNvSpPr txBox="true"/>
          <p:nvPr/>
        </p:nvSpPr>
        <p:spPr>
          <a:xfrm rot="0">
            <a:off x="914400" y="1409700"/>
            <a:ext cx="66675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b="true" sz="1650" strike="noStrike" u="none">
                <a:solidFill>
                  <a:srgbClr val="F2CDD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MOBILE PHONE DISCOVERY &amp; RECOMMENDATIONS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2247900"/>
            <a:ext cx="9906000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27"/>
              </a:lnSpc>
              <a:spcBef>
                <a:spcPct val="0"/>
              </a:spcBef>
            </a:pPr>
            <a:r>
              <a:rPr lang="en-US" b="true" sz="885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ELYVEX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3745611"/>
            <a:ext cx="8191500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8FA4B8"/>
                </a:solidFill>
                <a:latin typeface="Open Sans"/>
                <a:ea typeface="Open Sans"/>
                <a:cs typeface="Open Sans"/>
                <a:sym typeface="Open Sans"/>
              </a:rPr>
              <a:t>Better choices begin here.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7800975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Product walkthrough  ·  October 2026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573000" y="1143000"/>
            <a:ext cx="4095750" cy="7429500"/>
            <a:chOff x="0" y="0"/>
            <a:chExt cx="5461000" cy="9906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461000" cy="9906000"/>
              <a:chOff x="0" y="0"/>
              <a:chExt cx="5461000" cy="9906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461000" cy="9906000"/>
              </a:xfrm>
              <a:custGeom>
                <a:avLst/>
                <a:gdLst/>
                <a:ahLst/>
                <a:cxnLst/>
                <a:rect r="r" b="b" t="t" l="l"/>
                <a:pathLst>
                  <a:path h="9906000" w="5461000">
                    <a:moveTo>
                      <a:pt x="0" y="0"/>
                    </a:moveTo>
                    <a:lnTo>
                      <a:pt x="5461000" y="0"/>
                    </a:lnTo>
                    <a:lnTo>
                      <a:pt x="5461000" y="9906000"/>
                    </a:lnTo>
                    <a:lnTo>
                      <a:pt x="0" y="990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5461000" cy="994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04800" y="508000"/>
              <a:ext cx="4851400" cy="8890000"/>
              <a:chOff x="0" y="0"/>
              <a:chExt cx="4851400" cy="889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851400" cy="8890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0" w="4851400">
                    <a:moveTo>
                      <a:pt x="0" y="0"/>
                    </a:moveTo>
                    <a:lnTo>
                      <a:pt x="4851400" y="0"/>
                    </a:lnTo>
                    <a:lnTo>
                      <a:pt x="48514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4851400" cy="892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62000" y="1270000"/>
              <a:ext cx="3937000" cy="889000"/>
              <a:chOff x="0" y="0"/>
              <a:chExt cx="3937000" cy="889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937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889000"/>
                    </a:lnTo>
                    <a:lnTo>
                      <a:pt x="0" y="889000"/>
                    </a:lnTo>
                    <a:close/>
                  </a:path>
                </a:pathLst>
              </a:custGeom>
              <a:solidFill>
                <a:srgbClr val="B512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937000" cy="92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762000" y="2667000"/>
              <a:ext cx="3937000" cy="1841500"/>
              <a:chOff x="0" y="0"/>
              <a:chExt cx="3937000" cy="1841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937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3937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762000" y="4826000"/>
              <a:ext cx="3937000" cy="1841500"/>
              <a:chOff x="0" y="0"/>
              <a:chExt cx="3937000" cy="1841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937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2CDD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3937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Freeform 33" id="33" descr="Original ELYVEX logo with the motto Better choices begin here"/>
          <p:cNvSpPr/>
          <p:nvPr/>
        </p:nvSpPr>
        <p:spPr>
          <a:xfrm flipH="false" flipV="false" rot="0">
            <a:off x="12573000" y="1809750"/>
            <a:ext cx="4095750" cy="4095750"/>
          </a:xfrm>
          <a:custGeom>
            <a:avLst/>
            <a:gdLst/>
            <a:ahLst/>
            <a:cxnLst/>
            <a:rect r="r" b="b" t="t" l="l"/>
            <a:pathLst>
              <a:path h="4095750" w="4095750">
                <a:moveTo>
                  <a:pt x="0" y="0"/>
                </a:moveTo>
                <a:lnTo>
                  <a:pt x="4095750" y="0"/>
                </a:lnTo>
                <a:lnTo>
                  <a:pt x="40957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B172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ELYVEX at a glance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781175"/>
            <a:ext cx="139065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A phone discovery app that turns a large specification catalog into clear search, side-by-side comparison, and preference-based shortlists.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810000"/>
            <a:ext cx="4953000" cy="3648075"/>
            <a:chOff x="0" y="0"/>
            <a:chExt cx="6604000" cy="48641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04000" cy="4864100"/>
              <a:chOff x="0" y="0"/>
              <a:chExt cx="6604000" cy="4864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604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82600" y="660400"/>
              <a:ext cx="5588000" cy="101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413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82600" y="20129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5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CATALOG RECORDS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82600" y="2765425"/>
              <a:ext cx="533400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From the supplied phone workbook.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43650" y="3810000"/>
            <a:ext cx="4953000" cy="3648075"/>
            <a:chOff x="0" y="0"/>
            <a:chExt cx="6604000" cy="48641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04000" cy="4864100"/>
              <a:chOff x="0" y="0"/>
              <a:chExt cx="6604000" cy="48641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604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B512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604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82600" y="660400"/>
              <a:ext cx="5588000" cy="101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82600" y="20129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5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PERSONA PROFILES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82600" y="2765425"/>
              <a:ext cx="533400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Student, Creator, Gaming, Business, Senior.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772900" y="3810000"/>
            <a:ext cx="4953000" cy="3648075"/>
            <a:chOff x="0" y="0"/>
            <a:chExt cx="6604000" cy="48641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604000" cy="4864100"/>
              <a:chOff x="0" y="0"/>
              <a:chExt cx="6604000" cy="48641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604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604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82600" y="660400"/>
              <a:ext cx="5588000" cy="101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Top 5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82600" y="20129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5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RECOMMENDATION OUTPUT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82600" y="2765425"/>
              <a:ext cx="533400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With score breakdowns and missing-spec flags.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C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0B17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problem and who it's for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8763000" cy="6610350"/>
            <a:chOff x="0" y="0"/>
            <a:chExt cx="11684000" cy="8813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684000" cy="8813800"/>
              <a:chOff x="0" y="0"/>
              <a:chExt cx="11684000" cy="8813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684000" cy="8813800"/>
              </a:xfrm>
              <a:custGeom>
                <a:avLst/>
                <a:gdLst/>
                <a:ahLst/>
                <a:cxnLst/>
                <a:rect r="r" b="b" t="t" l="l"/>
                <a:pathLst>
                  <a:path h="8813800" w="11684000">
                    <a:moveTo>
                      <a:pt x="0" y="0"/>
                    </a:moveTo>
                    <a:lnTo>
                      <a:pt x="11684000" y="0"/>
                    </a:lnTo>
                    <a:lnTo>
                      <a:pt x="11684000" y="8813800"/>
                    </a:lnTo>
                    <a:lnTo>
                      <a:pt x="0" y="88138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1684000" cy="885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85800" y="1104900"/>
              <a:ext cx="10160000" cy="3375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7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Phone specifications are easy to list and hard to weigh against a person's budget and priorities.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85800" y="7026275"/>
              <a:ext cx="635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B5122B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Product framing · ELYVEX project brief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72750" y="2619375"/>
            <a:ext cx="6000750" cy="723900"/>
            <a:chOff x="0" y="0"/>
            <a:chExt cx="8001000" cy="9652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300789" y="0"/>
                    </a:moveTo>
                    <a:lnTo>
                      <a:pt x="664411" y="0"/>
                    </a:lnTo>
                    <a:cubicBezTo>
                      <a:pt x="830532" y="0"/>
                      <a:pt x="965200" y="134668"/>
                      <a:pt x="965200" y="300789"/>
                    </a:cubicBezTo>
                    <a:lnTo>
                      <a:pt x="965200" y="664411"/>
                    </a:lnTo>
                    <a:cubicBezTo>
                      <a:pt x="965200" y="830532"/>
                      <a:pt x="830532" y="965200"/>
                      <a:pt x="664411" y="965200"/>
                    </a:cubicBezTo>
                    <a:lnTo>
                      <a:pt x="300789" y="965200"/>
                    </a:lnTo>
                    <a:cubicBezTo>
                      <a:pt x="134668" y="965200"/>
                      <a:pt x="0" y="830532"/>
                      <a:pt x="0" y="664411"/>
                    </a:cubicBezTo>
                    <a:lnTo>
                      <a:pt x="0" y="300789"/>
                    </a:lnTo>
                    <a:cubicBezTo>
                      <a:pt x="0" y="134668"/>
                      <a:pt x="134668" y="0"/>
                      <a:pt x="300789" y="0"/>
                    </a:cubicBezTo>
                    <a:close/>
                  </a:path>
                </a:pathLst>
              </a:custGeom>
              <a:solidFill>
                <a:srgbClr val="B512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9652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0B1726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1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397000" y="133350"/>
              <a:ext cx="6604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Many specs, one buying decision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72750" y="4238625"/>
            <a:ext cx="6000750" cy="828675"/>
            <a:chOff x="0" y="0"/>
            <a:chExt cx="8001000" cy="11049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300789" y="0"/>
                    </a:moveTo>
                    <a:lnTo>
                      <a:pt x="664411" y="0"/>
                    </a:lnTo>
                    <a:cubicBezTo>
                      <a:pt x="830532" y="0"/>
                      <a:pt x="965200" y="134668"/>
                      <a:pt x="965200" y="300789"/>
                    </a:cubicBezTo>
                    <a:lnTo>
                      <a:pt x="965200" y="664411"/>
                    </a:lnTo>
                    <a:cubicBezTo>
                      <a:pt x="965200" y="830532"/>
                      <a:pt x="830532" y="965200"/>
                      <a:pt x="664411" y="965200"/>
                    </a:cubicBezTo>
                    <a:lnTo>
                      <a:pt x="300789" y="965200"/>
                    </a:lnTo>
                    <a:cubicBezTo>
                      <a:pt x="134668" y="965200"/>
                      <a:pt x="0" y="830532"/>
                      <a:pt x="0" y="664411"/>
                    </a:cubicBezTo>
                    <a:lnTo>
                      <a:pt x="0" y="300789"/>
                    </a:lnTo>
                    <a:cubicBezTo>
                      <a:pt x="0" y="134668"/>
                      <a:pt x="134668" y="0"/>
                      <a:pt x="300789" y="0"/>
                    </a:cubicBezTo>
                    <a:close/>
                  </a:path>
                </a:pathLst>
              </a:custGeom>
              <a:solidFill>
                <a:srgbClr val="F2CDD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9652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0B1726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2</a:t>
                </a: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397000" y="133350"/>
              <a:ext cx="6604000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 budget should filter before ranking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72750" y="5857875"/>
            <a:ext cx="6000750" cy="723900"/>
            <a:chOff x="0" y="0"/>
            <a:chExt cx="8001000" cy="9652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300789" y="0"/>
                    </a:moveTo>
                    <a:lnTo>
                      <a:pt x="664411" y="0"/>
                    </a:lnTo>
                    <a:cubicBezTo>
                      <a:pt x="830532" y="0"/>
                      <a:pt x="965200" y="134668"/>
                      <a:pt x="965200" y="300789"/>
                    </a:cubicBezTo>
                    <a:lnTo>
                      <a:pt x="965200" y="664411"/>
                    </a:lnTo>
                    <a:cubicBezTo>
                      <a:pt x="965200" y="830532"/>
                      <a:pt x="830532" y="965200"/>
                      <a:pt x="664411" y="965200"/>
                    </a:cubicBezTo>
                    <a:lnTo>
                      <a:pt x="300789" y="965200"/>
                    </a:lnTo>
                    <a:cubicBezTo>
                      <a:pt x="134668" y="965200"/>
                      <a:pt x="0" y="830532"/>
                      <a:pt x="0" y="664411"/>
                    </a:cubicBezTo>
                    <a:lnTo>
                      <a:pt x="0" y="300789"/>
                    </a:lnTo>
                    <a:cubicBezTo>
                      <a:pt x="0" y="134668"/>
                      <a:pt x="134668" y="0"/>
                      <a:pt x="300789" y="0"/>
                    </a:cubicBezTo>
                    <a:close/>
                  </a:path>
                </a:pathLst>
              </a:custGeom>
              <a:solidFill>
                <a:srgbClr val="B512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9652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0B1726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3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397000" y="133350"/>
              <a:ext cx="6604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Unclear data should stay visible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B172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Five personas, different priorities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4953000" cy="2762250"/>
            <a:chOff x="0" y="0"/>
            <a:chExt cx="6604000" cy="3683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Price-aware shortlist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Price 35 · Battery 20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43650" y="2190750"/>
            <a:ext cx="4953000" cy="2762250"/>
            <a:chOff x="0" y="0"/>
            <a:chExt cx="6604000" cy="3683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Creator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Camera-focused picks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Camera 35 · Storage 20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72900" y="2190750"/>
            <a:ext cx="4953000" cy="2762250"/>
            <a:chOff x="0" y="0"/>
            <a:chExt cx="6604000" cy="3683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Gaming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Memory &amp; battery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RAM 30 · Battery 20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5524500"/>
            <a:ext cx="4953000" cy="2762250"/>
            <a:chOff x="0" y="0"/>
            <a:chExt cx="6604000" cy="3683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Business Professional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Reliable daily use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Rating 25 · Battery 25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343650" y="5524500"/>
            <a:ext cx="4953000" cy="2762250"/>
            <a:chOff x="0" y="0"/>
            <a:chExt cx="6604000" cy="3683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2CDD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Senior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Simple, readable choices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Battery 25 · Display 15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C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0B17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decisions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7524750" cy="2286000"/>
            <a:chOff x="0" y="0"/>
            <a:chExt cx="10033000" cy="3048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B512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Filter over-budget phones first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05900" y="2190750"/>
            <a:ext cx="7524750" cy="2286000"/>
            <a:chOff x="0" y="0"/>
            <a:chExt cx="10033000" cy="3048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B512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 the same catalog in every flow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5048250"/>
            <a:ext cx="7524750" cy="2286000"/>
            <a:chOff x="0" y="0"/>
            <a:chExt cx="10033000" cy="3048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B512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Keep persona weights interpretable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05900" y="5048250"/>
            <a:ext cx="7524750" cy="2286000"/>
            <a:chOff x="0" y="0"/>
            <a:chExt cx="10033000" cy="3048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B512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Show missing specs; never guess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8191500"/>
            <a:ext cx="15811500" cy="781050"/>
            <a:chOff x="0" y="0"/>
            <a:chExt cx="21082000" cy="1041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082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21082000">
                  <a:moveTo>
                    <a:pt x="13771" y="0"/>
                  </a:moveTo>
                  <a:lnTo>
                    <a:pt x="21068229" y="0"/>
                  </a:lnTo>
                  <a:cubicBezTo>
                    <a:pt x="21075834" y="0"/>
                    <a:pt x="21082000" y="6166"/>
                    <a:pt x="21082000" y="13771"/>
                  </a:cubicBezTo>
                  <a:lnTo>
                    <a:pt x="21082000" y="1027629"/>
                  </a:lnTo>
                  <a:cubicBezTo>
                    <a:pt x="21082000" y="1035234"/>
                    <a:pt x="21075834" y="1041400"/>
                    <a:pt x="21068229" y="1041400"/>
                  </a:cubicBezTo>
                  <a:lnTo>
                    <a:pt x="13771" y="1041400"/>
                  </a:lnTo>
                  <a:cubicBezTo>
                    <a:pt x="6166" y="1041400"/>
                    <a:pt x="0" y="1035234"/>
                    <a:pt x="0" y="1027629"/>
                  </a:cubicBezTo>
                  <a:lnTo>
                    <a:pt x="0" y="13771"/>
                  </a:lnTo>
                  <a:cubicBezTo>
                    <a:pt x="0" y="6166"/>
                    <a:pt x="6166" y="0"/>
                    <a:pt x="13771" y="0"/>
                  </a:cubicBezTo>
                  <a:close/>
                </a:path>
              </a:pathLst>
            </a:custGeom>
            <a:solidFill>
              <a:srgbClr val="F2CDD3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1082000" cy="1069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 INPUT  ·  413 phone records from the supplied workbook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B172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journey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09625" y="3714750"/>
            <a:ext cx="2762250" cy="1428750"/>
            <a:chOff x="0" y="0"/>
            <a:chExt cx="3683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Browse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3571875" y="4429125"/>
            <a:ext cx="571500" cy="0"/>
          </a:xfrm>
          <a:prstGeom prst="line">
            <a:avLst/>
          </a:prstGeom>
          <a:ln cap="rnd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809625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Browse the shared phone catalog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286250" y="3714750"/>
            <a:ext cx="2762250" cy="1428750"/>
            <a:chOff x="0" y="0"/>
            <a:chExt cx="3683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B512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Filter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7048500" y="4429125"/>
            <a:ext cx="571500" cy="0"/>
          </a:xfrm>
          <a:prstGeom prst="line">
            <a:avLst/>
          </a:prstGeom>
          <a:ln cap="rnd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286250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Filter by brand, category, budget, specs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762875" y="3714750"/>
            <a:ext cx="2762250" cy="1428750"/>
            <a:chOff x="0" y="0"/>
            <a:chExt cx="3683000" cy="190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Compare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0525125" y="4429125"/>
            <a:ext cx="571500" cy="0"/>
          </a:xfrm>
          <a:prstGeom prst="line">
            <a:avLst/>
          </a:prstGeom>
          <a:ln cap="rnd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7762875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Compare exactly two phones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39500" y="3714750"/>
            <a:ext cx="2762250" cy="1428750"/>
            <a:chOff x="0" y="0"/>
            <a:chExt cx="3683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2CDD3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Recommendations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4001750" y="4429125"/>
            <a:ext cx="571500" cy="0"/>
          </a:xfrm>
          <a:prstGeom prst="line">
            <a:avLst/>
          </a:prstGeom>
          <a:ln cap="rnd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1239500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Rank a top five by persona + budget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716125" y="3714750"/>
            <a:ext cx="2762250" cy="1428750"/>
            <a:chOff x="0" y="0"/>
            <a:chExt cx="36830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Save profile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716125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Save preferences to your profile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C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0B17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demo · discover &amp; search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095500"/>
            <a:ext cx="7239000" cy="6191250"/>
            <a:chOff x="0" y="0"/>
            <a:chExt cx="9652000" cy="825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652000" cy="8255000"/>
              <a:chOff x="0" y="0"/>
              <a:chExt cx="9652000" cy="825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652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652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431800" y="508000"/>
              <a:ext cx="8788400" cy="939800"/>
              <a:chOff x="0" y="0"/>
              <a:chExt cx="8788400" cy="939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788400" cy="939800"/>
              </a:xfrm>
              <a:custGeom>
                <a:avLst/>
                <a:gdLst/>
                <a:ahLst/>
                <a:cxnLst/>
                <a:rect r="r" b="b" t="t" l="l"/>
                <a:pathLst>
                  <a:path h="939800" w="8788400">
                    <a:moveTo>
                      <a:pt x="0" y="0"/>
                    </a:moveTo>
                    <a:lnTo>
                      <a:pt x="8788400" y="0"/>
                    </a:lnTo>
                    <a:lnTo>
                      <a:pt x="8788400" y="939800"/>
                    </a:lnTo>
                    <a:lnTo>
                      <a:pt x="0" y="939800"/>
                    </a:lnTo>
                    <a:close/>
                  </a:path>
                </a:pathLst>
              </a:custGeom>
              <a:solidFill>
                <a:srgbClr val="B5122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8788400" cy="977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558800" y="2159000"/>
              <a:ext cx="3937000" cy="2286000"/>
              <a:chOff x="0" y="0"/>
              <a:chExt cx="3937000" cy="2286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5F8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5003800" y="2159000"/>
              <a:ext cx="3937000" cy="2286000"/>
              <a:chOff x="0" y="0"/>
              <a:chExt cx="3937000" cy="2286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5F8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58800" y="4953000"/>
              <a:ext cx="3937000" cy="2286000"/>
              <a:chOff x="0" y="0"/>
              <a:chExt cx="3937000" cy="2286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2CDD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5003800" y="4953000"/>
              <a:ext cx="3937000" cy="2286000"/>
              <a:chOff x="0" y="0"/>
              <a:chExt cx="3937000" cy="2286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5F8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9906000" y="2952750"/>
            <a:ext cx="2857500" cy="723900"/>
            <a:chOff x="0" y="0"/>
            <a:chExt cx="3810000" cy="965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B5122B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Brand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39750" y="2952750"/>
            <a:ext cx="2857500" cy="723900"/>
            <a:chOff x="0" y="0"/>
            <a:chExt cx="3810000" cy="965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Budget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906000" y="4095750"/>
            <a:ext cx="2857500" cy="723900"/>
            <a:chOff x="0" y="0"/>
            <a:chExt cx="3810000" cy="965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Camera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239750" y="4095750"/>
            <a:ext cx="2857500" cy="723900"/>
            <a:chOff x="0" y="0"/>
            <a:chExt cx="3810000" cy="965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Battery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906000" y="5791200"/>
            <a:ext cx="619125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Search the catalog, filter by needs, and open a phone's details.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07</a:t>
            </a:r>
          </a:p>
        </p:txBody>
      </p:sp>
      <p:sp>
        <p:nvSpPr>
          <p:cNvPr name="Freeform 40" id="40" descr="Screenshot of the deployed ELYVEX phone catalog and search UI"/>
          <p:cNvSpPr/>
          <p:nvPr/>
        </p:nvSpPr>
        <p:spPr>
          <a:xfrm flipH="false" flipV="false" rot="0">
            <a:off x="914400" y="2238375"/>
            <a:ext cx="7810500" cy="5857875"/>
          </a:xfrm>
          <a:custGeom>
            <a:avLst/>
            <a:gdLst/>
            <a:ahLst/>
            <a:cxnLst/>
            <a:rect r="r" b="b" t="t" l="l"/>
            <a:pathLst>
              <a:path h="5857875" w="7810500">
                <a:moveTo>
                  <a:pt x="0" y="0"/>
                </a:moveTo>
                <a:lnTo>
                  <a:pt x="7810500" y="0"/>
                </a:lnTo>
                <a:lnTo>
                  <a:pt x="7810500" y="5857875"/>
                </a:lnTo>
                <a:lnTo>
                  <a:pt x="0" y="5857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B172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demo · personalized recommendations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524750" y="2000250"/>
            <a:ext cx="4476750" cy="1047750"/>
            <a:chOff x="0" y="0"/>
            <a:chExt cx="5969000" cy="139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69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969000">
                  <a:moveTo>
                    <a:pt x="48638" y="0"/>
                  </a:moveTo>
                  <a:lnTo>
                    <a:pt x="5920362" y="0"/>
                  </a:lnTo>
                  <a:cubicBezTo>
                    <a:pt x="5933261" y="0"/>
                    <a:pt x="5945633" y="5124"/>
                    <a:pt x="5954754" y="14246"/>
                  </a:cubicBezTo>
                  <a:cubicBezTo>
                    <a:pt x="5963876" y="23367"/>
                    <a:pt x="5969000" y="35739"/>
                    <a:pt x="5969000" y="48638"/>
                  </a:cubicBezTo>
                  <a:lnTo>
                    <a:pt x="5969000" y="1348362"/>
                  </a:lnTo>
                  <a:cubicBezTo>
                    <a:pt x="5969000" y="1361261"/>
                    <a:pt x="5963876" y="1373633"/>
                    <a:pt x="5954754" y="1382754"/>
                  </a:cubicBezTo>
                  <a:cubicBezTo>
                    <a:pt x="5945633" y="1391876"/>
                    <a:pt x="5933261" y="1397000"/>
                    <a:pt x="5920362" y="1397000"/>
                  </a:cubicBezTo>
                  <a:lnTo>
                    <a:pt x="48638" y="1397000"/>
                  </a:lnTo>
                  <a:cubicBezTo>
                    <a:pt x="35739" y="1397000"/>
                    <a:pt x="23367" y="1391876"/>
                    <a:pt x="14246" y="1382754"/>
                  </a:cubicBezTo>
                  <a:cubicBezTo>
                    <a:pt x="5124" y="1373633"/>
                    <a:pt x="0" y="1361261"/>
                    <a:pt x="0" y="1348362"/>
                  </a:cubicBezTo>
                  <a:lnTo>
                    <a:pt x="0" y="48638"/>
                  </a:lnTo>
                  <a:cubicBezTo>
                    <a:pt x="0" y="35739"/>
                    <a:pt x="5124" y="23367"/>
                    <a:pt x="14246" y="14246"/>
                  </a:cubicBezTo>
                  <a:cubicBezTo>
                    <a:pt x="23367" y="5124"/>
                    <a:pt x="35739" y="0"/>
                    <a:pt x="48638" y="0"/>
                  </a:cubicBezTo>
                  <a:close/>
                </a:path>
              </a:pathLst>
            </a:custGeom>
            <a:solidFill>
              <a:srgbClr val="B5122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969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YOU SET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906250" y="2000250"/>
            <a:ext cx="4476750" cy="1047750"/>
            <a:chOff x="0" y="0"/>
            <a:chExt cx="5969000" cy="139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69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969000">
                  <a:moveTo>
                    <a:pt x="48638" y="0"/>
                  </a:moveTo>
                  <a:lnTo>
                    <a:pt x="5920362" y="0"/>
                  </a:lnTo>
                  <a:cubicBezTo>
                    <a:pt x="5933261" y="0"/>
                    <a:pt x="5945633" y="5124"/>
                    <a:pt x="5954754" y="14246"/>
                  </a:cubicBezTo>
                  <a:cubicBezTo>
                    <a:pt x="5963876" y="23367"/>
                    <a:pt x="5969000" y="35739"/>
                    <a:pt x="5969000" y="48638"/>
                  </a:cubicBezTo>
                  <a:lnTo>
                    <a:pt x="5969000" y="1348362"/>
                  </a:lnTo>
                  <a:cubicBezTo>
                    <a:pt x="5969000" y="1361261"/>
                    <a:pt x="5963876" y="1373633"/>
                    <a:pt x="5954754" y="1382754"/>
                  </a:cubicBezTo>
                  <a:cubicBezTo>
                    <a:pt x="5945633" y="1391876"/>
                    <a:pt x="5933261" y="1397000"/>
                    <a:pt x="5920362" y="1397000"/>
                  </a:cubicBezTo>
                  <a:lnTo>
                    <a:pt x="48638" y="1397000"/>
                  </a:lnTo>
                  <a:cubicBezTo>
                    <a:pt x="35739" y="1397000"/>
                    <a:pt x="23367" y="1391876"/>
                    <a:pt x="14246" y="1382754"/>
                  </a:cubicBezTo>
                  <a:cubicBezTo>
                    <a:pt x="5124" y="1373633"/>
                    <a:pt x="0" y="1361261"/>
                    <a:pt x="0" y="1348362"/>
                  </a:cubicBezTo>
                  <a:lnTo>
                    <a:pt x="0" y="48638"/>
                  </a:lnTo>
                  <a:cubicBezTo>
                    <a:pt x="0" y="35739"/>
                    <a:pt x="5124" y="23367"/>
                    <a:pt x="14246" y="14246"/>
                  </a:cubicBezTo>
                  <a:cubicBezTo>
                    <a:pt x="23367" y="5124"/>
                    <a:pt x="35739" y="0"/>
                    <a:pt x="48638" y="0"/>
                  </a:cubicBezTo>
                  <a:close/>
                </a:path>
              </a:pathLst>
            </a:custGeom>
            <a:solidFill>
              <a:srgbClr val="F2CDD3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969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ELYVEX RETURNS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53000" y="3286125"/>
            <a:ext cx="11430000" cy="685800"/>
            <a:chOff x="0" y="0"/>
            <a:chExt cx="152400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7EEF0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524750" y="34671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Persona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06250" y="34671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Five weighted profiles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953000" y="4286250"/>
            <a:ext cx="11430000" cy="685800"/>
            <a:chOff x="0" y="0"/>
            <a:chExt cx="152400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524750" y="446722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Max price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06250" y="446722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Above-budget phones excluded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953000" y="5286375"/>
            <a:ext cx="11430000" cy="685800"/>
            <a:chOff x="0" y="0"/>
            <a:chExt cx="152400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7EEF0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524750" y="54673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Catalog specs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06250" y="54673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Normalized, then weighted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953000" y="6286500"/>
            <a:ext cx="11430000" cy="685800"/>
            <a:chOff x="0" y="0"/>
            <a:chExt cx="152400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524750" y="646747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Missing spec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06250" y="646747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0 points; shown as missing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953000" y="7286625"/>
            <a:ext cx="11430000" cy="685800"/>
            <a:chOff x="0" y="0"/>
            <a:chExt cx="152400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7EEF0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524750" y="74676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Shortlist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06250" y="74676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Ranked top five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C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0B17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08</a:t>
            </a:r>
          </a:p>
        </p:txBody>
      </p:sp>
      <p:sp>
        <p:nvSpPr>
          <p:cNvPr name="Freeform 39" id="39" descr="Screenshot of the deployed ELYVEX personalized recommendation setup"/>
          <p:cNvSpPr/>
          <p:nvPr/>
        </p:nvSpPr>
        <p:spPr>
          <a:xfrm flipH="false" flipV="false" rot="0">
            <a:off x="914400" y="2476500"/>
            <a:ext cx="5429250" cy="4076700"/>
          </a:xfrm>
          <a:custGeom>
            <a:avLst/>
            <a:gdLst/>
            <a:ahLst/>
            <a:cxnLst/>
            <a:rect r="r" b="b" t="t" l="l"/>
            <a:pathLst>
              <a:path h="4076700" w="5429250">
                <a:moveTo>
                  <a:pt x="0" y="0"/>
                </a:moveTo>
                <a:lnTo>
                  <a:pt x="5429250" y="0"/>
                </a:lnTo>
                <a:lnTo>
                  <a:pt x="54292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" t="0" r="-58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Recommendation scoring rules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647825"/>
            <a:ext cx="10001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8FA4B8"/>
                </a:solidFill>
                <a:latin typeface="Open Sans"/>
                <a:ea typeface="Open Sans"/>
                <a:cs typeface="Open Sans"/>
                <a:sym typeface="Open Sans"/>
              </a:rPr>
              <a:t>Eligibility gate first; then a transparent persona-weighted score.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283845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Budget gate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000500" y="2914650"/>
            <a:ext cx="8953500" cy="304800"/>
            <a:chOff x="0" y="0"/>
            <a:chExt cx="119380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00500" y="2914650"/>
            <a:ext cx="4953000" cy="304800"/>
            <a:chOff x="0" y="0"/>
            <a:chExt cx="66040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B512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20750" y="2743200"/>
            <a:ext cx="2190750" cy="666750"/>
            <a:chOff x="0" y="0"/>
            <a:chExt cx="2921000" cy="88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HARD FILTER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" y="3933825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Normalize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000500" y="4010025"/>
            <a:ext cx="8953500" cy="304800"/>
            <a:chOff x="0" y="0"/>
            <a:chExt cx="119380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000500" y="4010025"/>
            <a:ext cx="4953000" cy="304800"/>
            <a:chOff x="0" y="0"/>
            <a:chExt cx="66040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2CDD3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620750" y="3838575"/>
            <a:ext cx="2190750" cy="666750"/>
            <a:chOff x="0" y="0"/>
            <a:chExt cx="2921000" cy="889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CATALOG RANGE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14400" y="502920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Persona weights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000500" y="5105400"/>
            <a:ext cx="8953500" cy="304800"/>
            <a:chOff x="0" y="0"/>
            <a:chExt cx="119380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000500" y="5105400"/>
            <a:ext cx="4953000" cy="304800"/>
            <a:chOff x="0" y="0"/>
            <a:chExt cx="66040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B5122B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20750" y="4933950"/>
            <a:ext cx="2190750" cy="666750"/>
            <a:chOff x="0" y="0"/>
            <a:chExt cx="2921000" cy="889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SUM = 100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4400" y="6124575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Missing specs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000500" y="6200775"/>
            <a:ext cx="8953500" cy="304800"/>
            <a:chOff x="0" y="0"/>
            <a:chExt cx="11938000" cy="406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000500" y="6200775"/>
            <a:ext cx="4953000" cy="304800"/>
            <a:chOff x="0" y="0"/>
            <a:chExt cx="6604000" cy="406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2CDD3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620750" y="6029325"/>
            <a:ext cx="2190750" cy="666750"/>
            <a:chOff x="0" y="0"/>
            <a:chExt cx="2921000" cy="889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 + FLAG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14400" y="721995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Rank results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000500" y="7296150"/>
            <a:ext cx="8953500" cy="304800"/>
            <a:chOff x="0" y="0"/>
            <a:chExt cx="11938000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000500" y="7296150"/>
            <a:ext cx="4953000" cy="304800"/>
            <a:chOff x="0" y="0"/>
            <a:chExt cx="6604000" cy="406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B5122B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620750" y="7124700"/>
            <a:ext cx="2190750" cy="666750"/>
            <a:chOff x="0" y="0"/>
            <a:chExt cx="2921000" cy="889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TOP FIVE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14400" y="8572500"/>
            <a:ext cx="14906625" cy="609600"/>
            <a:chOff x="0" y="0"/>
            <a:chExt cx="198755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8755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875500">
                  <a:moveTo>
                    <a:pt x="14607" y="0"/>
                  </a:moveTo>
                  <a:lnTo>
                    <a:pt x="19860893" y="0"/>
                  </a:lnTo>
                  <a:cubicBezTo>
                    <a:pt x="19864767" y="0"/>
                    <a:pt x="19868482" y="1539"/>
                    <a:pt x="19871221" y="4278"/>
                  </a:cubicBezTo>
                  <a:cubicBezTo>
                    <a:pt x="19873961" y="7018"/>
                    <a:pt x="19875500" y="10733"/>
                    <a:pt x="19875500" y="14607"/>
                  </a:cubicBezTo>
                  <a:lnTo>
                    <a:pt x="19875500" y="798193"/>
                  </a:lnTo>
                  <a:cubicBezTo>
                    <a:pt x="19875500" y="802067"/>
                    <a:pt x="19873961" y="805782"/>
                    <a:pt x="19871221" y="808522"/>
                  </a:cubicBezTo>
                  <a:cubicBezTo>
                    <a:pt x="19868482" y="811261"/>
                    <a:pt x="19864767" y="812800"/>
                    <a:pt x="19860893" y="812800"/>
                  </a:cubicBezTo>
                  <a:lnTo>
                    <a:pt x="14607" y="812800"/>
                  </a:lnTo>
                  <a:cubicBezTo>
                    <a:pt x="10733" y="812800"/>
                    <a:pt x="7018" y="811261"/>
                    <a:pt x="4278" y="808522"/>
                  </a:cubicBezTo>
                  <a:cubicBezTo>
                    <a:pt x="1539" y="805782"/>
                    <a:pt x="0" y="802067"/>
                    <a:pt x="0" y="798193"/>
                  </a:cubicBezTo>
                  <a:lnTo>
                    <a:pt x="0" y="14607"/>
                  </a:lnTo>
                  <a:cubicBezTo>
                    <a:pt x="0" y="10733"/>
                    <a:pt x="1539" y="7018"/>
                    <a:pt x="4278" y="4278"/>
                  </a:cubicBezTo>
                  <a:cubicBezTo>
                    <a:pt x="7018" y="1539"/>
                    <a:pt x="10733" y="0"/>
                    <a:pt x="14607" y="0"/>
                  </a:cubicBezTo>
                  <a:close/>
                </a:path>
              </a:pathLst>
            </a:custGeom>
            <a:solidFill>
              <a:srgbClr val="B5122B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198755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score = Σ (normalized available spec × persona weight)  ·  Price score is inverted; missing values are never inferred.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B172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&amp; account data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3143250"/>
            <a:ext cx="3143250" cy="1238250"/>
            <a:chOff x="0" y="0"/>
            <a:chExt cx="4191000" cy="165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B5122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191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React + TypeScript UI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34000" y="2095500"/>
            <a:ext cx="3143250" cy="1238250"/>
            <a:chOff x="0" y="0"/>
            <a:chExt cx="4191000" cy="165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191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Shared JSON catalog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34000" y="4476750"/>
            <a:ext cx="3143250" cy="1238250"/>
            <a:chOff x="0" y="0"/>
            <a:chExt cx="4191000" cy="165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191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FastAPI endpoints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20250" y="3286125"/>
            <a:ext cx="3429000" cy="1238250"/>
            <a:chOff x="0" y="0"/>
            <a:chExt cx="4572000" cy="165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587500"/>
                  </a:lnTo>
                  <a:cubicBezTo>
                    <a:pt x="4572000" y="1622570"/>
                    <a:pt x="4543570" y="1651000"/>
                    <a:pt x="4508500" y="1651000"/>
                  </a:cubicBezTo>
                  <a:lnTo>
                    <a:pt x="63500" y="1651000"/>
                  </a:lnTo>
                  <a:cubicBezTo>
                    <a:pt x="28430" y="1651000"/>
                    <a:pt x="0" y="1622570"/>
                    <a:pt x="0" y="158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2CDD3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572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Firebase Auth + Firestore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4191000" y="2714625"/>
            <a:ext cx="1143000" cy="1047750"/>
          </a:xfrm>
          <a:prstGeom prst="line">
            <a:avLst/>
          </a:prstGeom>
          <a:ln cap="flat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4191000" y="3762375"/>
            <a:ext cx="1143000" cy="1333500"/>
          </a:xfrm>
          <a:prstGeom prst="line">
            <a:avLst/>
          </a:prstGeom>
          <a:ln cap="flat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8477250" y="2714625"/>
            <a:ext cx="1143000" cy="1190625"/>
          </a:xfrm>
          <a:prstGeom prst="line">
            <a:avLst/>
          </a:prstGeom>
          <a:ln cap="flat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8477250" y="3905250"/>
            <a:ext cx="1143000" cy="1190625"/>
          </a:xfrm>
          <a:prstGeom prst="line">
            <a:avLst/>
          </a:prstGeom>
          <a:ln cap="flat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3811250" y="2095500"/>
            <a:ext cx="3524250" cy="5953125"/>
            <a:chOff x="0" y="0"/>
            <a:chExt cx="4699000" cy="79375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699000" cy="7937500"/>
              <a:chOff x="0" y="0"/>
              <a:chExt cx="4699000" cy="7937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699000" cy="7937500"/>
              </a:xfrm>
              <a:custGeom>
                <a:avLst/>
                <a:gdLst/>
                <a:ahLst/>
                <a:cxnLst/>
                <a:rect r="r" b="b" t="t" l="l"/>
                <a:pathLst>
                  <a:path h="7937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7937500"/>
                    </a:lnTo>
                    <a:lnTo>
                      <a:pt x="0" y="7937500"/>
                    </a:lnTo>
                    <a:close/>
                  </a:path>
                </a:pathLst>
              </a:custGeom>
              <a:solidFill>
                <a:srgbClr val="0B172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4699000" cy="797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08000" y="606425"/>
              <a:ext cx="3683000" cy="4439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TRUST &amp; DATA</a:t>
              </a: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Profile: persona, budget, categories</a:t>
              </a: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Access: signed-in owner only</a:t>
              </a: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Guest picks: local browser storage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C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 spc="270" strike="noStrike" u="none">
                <a:solidFill>
                  <a:srgbClr val="0B17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review, challenges &amp; next steps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7524750" cy="2990850"/>
            <a:chOff x="0" y="0"/>
            <a:chExt cx="10033000" cy="3987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33000" cy="3987800"/>
              <a:chOff x="0" y="0"/>
              <a:chExt cx="10033000" cy="3987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33000" cy="3987800"/>
              </a:xfrm>
              <a:custGeom>
                <a:avLst/>
                <a:gdLst/>
                <a:ahLst/>
                <a:cxnLst/>
                <a:rect r="r" b="b" t="t" l="l"/>
                <a:pathLst>
                  <a:path h="3987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987800"/>
                    </a:lnTo>
                    <a:lnTo>
                      <a:pt x="0" y="39878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33000" cy="402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B512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 got wrong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82600" y="1393825"/>
              <a:ext cx="8763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It treated likely price/spec units as confirmed.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05900" y="2190750"/>
            <a:ext cx="7524750" cy="3409950"/>
            <a:chOff x="0" y="0"/>
            <a:chExt cx="10033000" cy="4546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033000" cy="4546600"/>
              <a:chOff x="0" y="0"/>
              <a:chExt cx="10033000" cy="45466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33000" cy="4546600"/>
              </a:xfrm>
              <a:custGeom>
                <a:avLst/>
                <a:gdLst/>
                <a:ahLst/>
                <a:cxnLst/>
                <a:rect r="r" b="b" t="t" l="l"/>
                <a:pathLst>
                  <a:path h="45466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4546600"/>
                    </a:lnTo>
                    <a:lnTo>
                      <a:pt x="0" y="45466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033000" cy="458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B512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How we caught it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82600" y="1393825"/>
              <a:ext cx="8763000" cy="166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Checked every claim against the source workbook notes; currency and several units are unconfirmed.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5334000"/>
            <a:ext cx="7524750" cy="2990850"/>
            <a:chOff x="0" y="0"/>
            <a:chExt cx="10033000" cy="3987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033000" cy="3987800"/>
              <a:chOff x="0" y="0"/>
              <a:chExt cx="10033000" cy="3987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033000" cy="3987800"/>
              </a:xfrm>
              <a:custGeom>
                <a:avLst/>
                <a:gdLst/>
                <a:ahLst/>
                <a:cxnLst/>
                <a:rect r="r" b="b" t="t" l="l"/>
                <a:pathLst>
                  <a:path h="3987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987800"/>
                    </a:lnTo>
                    <a:lnTo>
                      <a:pt x="0" y="39878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033000" cy="402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B5122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Challenge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82600" y="1393825"/>
              <a:ext cx="8763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Mixed field formats and no per-phone source links make verification harder.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05900" y="5334000"/>
            <a:ext cx="7524750" cy="2990850"/>
            <a:chOff x="0" y="0"/>
            <a:chExt cx="10033000" cy="39878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033000" cy="3987800"/>
              <a:chOff x="0" y="0"/>
              <a:chExt cx="10033000" cy="3987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033000" cy="3987800"/>
              </a:xfrm>
              <a:custGeom>
                <a:avLst/>
                <a:gdLst/>
                <a:ahLst/>
                <a:cxnLst/>
                <a:rect r="r" b="b" t="t" l="l"/>
                <a:pathLst>
                  <a:path h="3987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987800"/>
                    </a:lnTo>
                    <a:lnTo>
                      <a:pt x="0" y="3987800"/>
                    </a:lnTo>
                    <a:close/>
                  </a:path>
                </a:pathLst>
              </a:custGeom>
              <a:solidFill>
                <a:srgbClr val="F2CDD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033000" cy="402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Improve next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82600" y="1393825"/>
              <a:ext cx="8763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Verify with sellers; add sources and freshness dates; test rankings with users.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B5122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58750" y="1143000"/>
            <a:ext cx="4000500" cy="7239000"/>
            <a:chOff x="0" y="0"/>
            <a:chExt cx="5334000" cy="965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34000" cy="9652000"/>
            </a:xfrm>
            <a:custGeom>
              <a:avLst/>
              <a:gdLst/>
              <a:ahLst/>
              <a:cxnLst/>
              <a:rect r="r" b="b" t="t" l="l"/>
              <a:pathLst>
                <a:path h="9652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34000" cy="969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20750" y="1809750"/>
            <a:ext cx="2476500" cy="5905500"/>
            <a:chOff x="0" y="0"/>
            <a:chExt cx="3302000" cy="787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2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02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30300" y="2190750"/>
            <a:ext cx="2057400" cy="5143500"/>
            <a:chOff x="0" y="0"/>
            <a:chExt cx="2743200" cy="685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32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B5122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43200" cy="689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" y="1943100"/>
            <a:ext cx="10668000" cy="307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56"/>
              </a:lnSpc>
              <a:spcBef>
                <a:spcPct val="0"/>
              </a:spcBef>
            </a:pPr>
            <a:r>
              <a:rPr lang="en-US" b="true" sz="7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Clear priorities. Honest data. Better phone choices.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5676900"/>
            <a:ext cx="666750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0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2CDD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Questions?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7115175"/>
            <a:ext cx="762000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LIVE DEMO  ·  pj-1-five.vercel.app  ·  Better choices begin here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DAHZgdejGcg</dc:identifier>
  <dcterms:modified xsi:type="dcterms:W3CDTF">2011-08-01T06:04:30Z</dcterms:modified>
  <cp:revision>1</cp:revision>
  <dc:title>ELYVEX — Final Project Presentation</dc:title>
</cp:coreProperties>
</file>