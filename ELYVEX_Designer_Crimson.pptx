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ELYVEX Rose Curve Backplate"/>
          <p:cNvSpPr/>
          <p:nvPr/>
        </p:nvSpPr>
        <p:spPr>
          <a:xfrm>
            <a:off x="781050" y="1257300"/>
            <a:ext cx="11144250" cy="71247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5" name="ELYVEX Crimson Hero"/>
          <p:cNvSpPr/>
          <p:nvPr/>
        </p:nvSpPr>
        <p:spPr>
          <a:xfrm>
            <a:off x="628650" y="1104900"/>
            <a:ext cx="11144250" cy="7124700"/>
          </a:xfrm>
          <a:prstGeom prst="roundRect">
            <a:avLst/>
          </a:prstGeom>
          <a:solidFill>
            <a:srgbClr val="861129"/>
          </a:solidFill>
          <a:ln>
            <a:noFill/>
          </a:ln>
        </p:spPr>
      </p:sp>
      <p:grpSp>
        <p:nvGrpSpPr>
          <p:cNvPr name="Group 2" id="2"/>
          <p:cNvGrpSpPr/>
          <p:nvPr/>
        </p:nvGrpSpPr>
        <p:grpSpPr>
          <a:xfrm rot="0">
            <a:off x="14287500" y="0"/>
            <a:ext cx="19050" cy="10287000"/>
            <a:chOff x="0" y="0"/>
            <a:chExt cx="25400" cy="13716000"/>
          </a:xfrm>
        </p:grpSpPr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</p:grpSp>
      <p:sp>
        <p:nvSpPr>
          <p:cNvPr name="TextBox 8" id="8"/>
          <p:cNvSpPr txBox="true"/>
          <p:nvPr/>
        </p:nvSpPr>
        <p:spPr>
          <a:xfrm rot="0">
            <a:off x="914400" y="1409700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PHONE DISCOVERY &amp;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247900"/>
            <a:ext cx="99060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7"/>
              </a:lnSpc>
              <a:spcBef>
                <a:spcPct val="0"/>
              </a:spcBef>
            </a:pPr>
            <a:r>
              <a:rPr lang="en-US" b="true" sz="8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45611"/>
            <a:ext cx="819150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Better choices begin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8009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walkthrough  ·  October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1143000"/>
            <a:ext cx="4095750" cy="7429500"/>
            <a:chOff x="0" y="0"/>
            <a:chExt cx="5461000" cy="990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61000" cy="9906000"/>
              <a:chOff x="0" y="0"/>
              <a:chExt cx="5461000" cy="990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461000" cy="9906000"/>
              </a:xfrm>
              <a:custGeom>
                <a:avLst/>
                <a:gdLst/>
                <a:ahLst/>
                <a:cxnLst/>
                <a:rect r="r" b="b" t="t" l="l"/>
                <a:pathLst>
                  <a:path h="9906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461000" cy="994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800" y="508000"/>
              <a:ext cx="4851400" cy="8890000"/>
              <a:chOff x="0" y="0"/>
              <a:chExt cx="4851400" cy="88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5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851400">
                    <a:moveTo>
                      <a:pt x="0" y="0"/>
                    </a:moveTo>
                    <a:lnTo>
                      <a:pt x="4851400" y="0"/>
                    </a:lnTo>
                    <a:lnTo>
                      <a:pt x="485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85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2000" y="1270000"/>
              <a:ext cx="3937000" cy="889000"/>
              <a:chOff x="0" y="0"/>
              <a:chExt cx="3937000" cy="88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2000" y="2667000"/>
              <a:ext cx="3937000" cy="1841500"/>
              <a:chOff x="0" y="0"/>
              <a:chExt cx="3937000" cy="1841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2000" y="4826000"/>
              <a:ext cx="3937000" cy="1841500"/>
              <a:chOff x="0" y="0"/>
              <a:chExt cx="3937000" cy="1841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Freeform 33" id="33" descr="Original ELYVEX logo with the motto Better choices begin here"/>
          <p:cNvSpPr/>
          <p:nvPr/>
        </p:nvSpPr>
        <p:spPr>
          <a:xfrm flipH="false" flipV="false" rot="0">
            <a:off x="12573000" y="1809750"/>
            <a:ext cx="4095750" cy="4095750"/>
          </a:xfrm>
          <a:custGeom>
            <a:avLst/>
            <a:gdLst/>
            <a:ahLst/>
            <a:cxnLst/>
            <a:rect r="r" b="b" t="t" l="l"/>
            <a:pathLst>
              <a:path h="4095750" w="4095750">
                <a:moveTo>
                  <a:pt x="0" y="0"/>
                </a:moveTo>
                <a:lnTo>
                  <a:pt x="4095750" y="0"/>
                </a:lnTo>
                <a:lnTo>
                  <a:pt x="40957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1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81175"/>
            <a:ext cx="13906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 phone discovery app that turns a large specification catalog into clear search, side-by-side comparison, and preference-based shortlists.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810000"/>
            <a:ext cx="4953000" cy="3648075"/>
            <a:chOff x="0" y="0"/>
            <a:chExt cx="6604000" cy="48641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413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RECORDS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From the supplied phone workbook.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3810000"/>
            <a:ext cx="4953000" cy="3648075"/>
            <a:chOff x="0" y="0"/>
            <a:chExt cx="6604000" cy="48641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 PROFILES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Student, Creator, Gaming, Business, Senior.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3810000"/>
            <a:ext cx="4953000" cy="3648075"/>
            <a:chOff x="0" y="0"/>
            <a:chExt cx="6604000" cy="48641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 OUTPUT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score breakdowns and missing-spec flags.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0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and who it's for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8763000" cy="6610350"/>
            <a:chOff x="0" y="0"/>
            <a:chExt cx="11684000" cy="881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84000" cy="8813800"/>
              <a:chOff x="0" y="0"/>
              <a:chExt cx="11684000" cy="8813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84000" cy="8813800"/>
              </a:xfrm>
              <a:custGeom>
                <a:avLst/>
                <a:gdLst/>
                <a:ahLst/>
                <a:cxnLst/>
                <a:rect r="r" b="b" t="t" l="l"/>
                <a:pathLst>
                  <a:path h="88138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8813800"/>
                    </a:lnTo>
                    <a:lnTo>
                      <a:pt x="0" y="8813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684000" cy="885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1104900"/>
              <a:ext cx="10160000" cy="337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Phone specifications are easy to list and hard to weigh against a person's budget and priorities.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702627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A91635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framing · ELYVEX project brief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2750" y="2619375"/>
            <a:ext cx="6000750" cy="723900"/>
            <a:chOff x="0" y="0"/>
            <a:chExt cx="8001000" cy="965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Many specs, one buying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2750" y="4238625"/>
            <a:ext cx="6000750" cy="828675"/>
            <a:chOff x="0" y="0"/>
            <a:chExt cx="8001000" cy="1104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7000" y="133350"/>
              <a:ext cx="6604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budget should filter before ranking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72750" y="5857875"/>
            <a:ext cx="6000750" cy="723900"/>
            <a:chOff x="0" y="0"/>
            <a:chExt cx="8001000" cy="965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65091E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Unclear data should stay visible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44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personas, different priorities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Price-aware shortlist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35 · Battery 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3650" y="2190750"/>
            <a:ext cx="4953000" cy="2762250"/>
            <a:chOff x="0" y="0"/>
            <a:chExt cx="66040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Camera-focused picks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35 · Storage 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72900" y="2190750"/>
            <a:ext cx="4953000" cy="2762250"/>
            <a:chOff x="0" y="0"/>
            <a:chExt cx="6604000" cy="368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Memory &amp; battery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RAM 30 · Battery 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524500"/>
            <a:ext cx="4953000" cy="2762250"/>
            <a:chOff x="0" y="0"/>
            <a:chExt cx="66040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Professional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daily use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Rating 25 · Battery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43650" y="5524500"/>
            <a:ext cx="4953000" cy="2762250"/>
            <a:chOff x="0" y="0"/>
            <a:chExt cx="6604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Simple, readable choices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Battery 25 · Display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6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decisions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286000"/>
            <a:chOff x="0" y="0"/>
            <a:chExt cx="10033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 over-budget phones first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2286000"/>
            <a:chOff x="0" y="0"/>
            <a:chExt cx="10033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the same catalog in every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48250"/>
            <a:ext cx="7524750" cy="2286000"/>
            <a:chOff x="0" y="0"/>
            <a:chExt cx="1003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persona weights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048250"/>
            <a:ext cx="7524750" cy="2286000"/>
            <a:chOff x="0" y="0"/>
            <a:chExt cx="10033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Show missing specs; never guess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191500"/>
            <a:ext cx="15811500" cy="781050"/>
            <a:chOff x="0" y="0"/>
            <a:chExt cx="210820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1082000">
                  <a:moveTo>
                    <a:pt x="13771" y="0"/>
                  </a:moveTo>
                  <a:lnTo>
                    <a:pt x="21068229" y="0"/>
                  </a:lnTo>
                  <a:cubicBezTo>
                    <a:pt x="21075834" y="0"/>
                    <a:pt x="21082000" y="6166"/>
                    <a:pt x="21082000" y="13771"/>
                  </a:cubicBezTo>
                  <a:lnTo>
                    <a:pt x="21082000" y="1027629"/>
                  </a:lnTo>
                  <a:cubicBezTo>
                    <a:pt x="21082000" y="1035234"/>
                    <a:pt x="21075834" y="1041400"/>
                    <a:pt x="21068229" y="1041400"/>
                  </a:cubicBezTo>
                  <a:lnTo>
                    <a:pt x="13771" y="1041400"/>
                  </a:lnTo>
                  <a:cubicBezTo>
                    <a:pt x="6166" y="1041400"/>
                    <a:pt x="0" y="1035234"/>
                    <a:pt x="0" y="1027629"/>
                  </a:cubicBezTo>
                  <a:lnTo>
                    <a:pt x="0" y="13771"/>
                  </a:lnTo>
                  <a:cubicBezTo>
                    <a:pt x="0" y="6166"/>
                    <a:pt x="6166" y="0"/>
                    <a:pt x="13771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0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INPUT  ·  413 phone records from the supplied workbook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3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journey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37147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Browse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7187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96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Browse the shared phone catalog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6250" y="3714750"/>
            <a:ext cx="2762250" cy="1428750"/>
            <a:chOff x="0" y="0"/>
            <a:chExt cx="368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8625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Filter by brand, category, budget, specs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62875" y="3714750"/>
            <a:ext cx="2762250" cy="1428750"/>
            <a:chOff x="0" y="0"/>
            <a:chExt cx="3683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525125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76287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Compare exactly two phones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0" y="3714750"/>
            <a:ext cx="2762250" cy="1428750"/>
            <a:chOff x="0" y="0"/>
            <a:chExt cx="368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4429125"/>
            <a:ext cx="571500" cy="0"/>
          </a:xfrm>
          <a:prstGeom prst="line">
            <a:avLst/>
          </a:prstGeom>
          <a:ln cap="rnd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23950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 a top five by persona + budget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716125" y="3714750"/>
            <a:ext cx="2762250" cy="1428750"/>
            <a:chOff x="0" y="0"/>
            <a:chExt cx="3683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profile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7161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Save preferences to your profile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42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discover &amp; search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7239000" cy="6191250"/>
            <a:chOff x="0" y="0"/>
            <a:chExt cx="965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31800" y="508000"/>
              <a:ext cx="8788400" cy="939800"/>
              <a:chOff x="0" y="0"/>
              <a:chExt cx="8788400" cy="939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84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8788400">
                    <a:moveTo>
                      <a:pt x="0" y="0"/>
                    </a:moveTo>
                    <a:lnTo>
                      <a:pt x="8788400" y="0"/>
                    </a:lnTo>
                    <a:lnTo>
                      <a:pt x="87884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A9163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84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8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003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58800" y="4953000"/>
              <a:ext cx="3937000" cy="2286000"/>
              <a:chOff x="0" y="0"/>
              <a:chExt cx="3937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03800" y="4953000"/>
              <a:ext cx="3937000" cy="2286000"/>
              <a:chOff x="0" y="0"/>
              <a:chExt cx="3937000" cy="228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FF5F4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906000" y="2952750"/>
            <a:ext cx="2857500" cy="723900"/>
            <a:chOff x="0" y="0"/>
            <a:chExt cx="3810000" cy="96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50" y="2952750"/>
            <a:ext cx="2857500" cy="723900"/>
            <a:chOff x="0" y="0"/>
            <a:chExt cx="3810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0" y="4095750"/>
            <a:ext cx="2857500" cy="723900"/>
            <a:chOff x="0" y="0"/>
            <a:chExt cx="3810000" cy="965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Camera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39750" y="4095750"/>
            <a:ext cx="2857500" cy="723900"/>
            <a:chOff x="0" y="0"/>
            <a:chExt cx="3810000" cy="96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Battery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0" y="5791200"/>
            <a:ext cx="619125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the catalog, filter by needs, and open a phone's details.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Freeform 40" id="40" descr="Screenshot of the deployed ELYVEX phone catalog and search UI"/>
          <p:cNvSpPr/>
          <p:nvPr/>
        </p:nvSpPr>
        <p:spPr>
          <a:xfrm flipH="false" flipV="false" rot="0">
            <a:off x="914400" y="2238375"/>
            <a:ext cx="7810500" cy="5857875"/>
          </a:xfrm>
          <a:custGeom>
            <a:avLst/>
            <a:gdLst/>
            <a:ahLst/>
            <a:cxnLst/>
            <a:rect r="r" b="b" t="t" l="l"/>
            <a:pathLst>
              <a:path h="5857875" w="7810500">
                <a:moveTo>
                  <a:pt x="0" y="0"/>
                </a:moveTo>
                <a:lnTo>
                  <a:pt x="7810500" y="0"/>
                </a:lnTo>
                <a:lnTo>
                  <a:pt x="7810500" y="5857875"/>
                </a:lnTo>
                <a:lnTo>
                  <a:pt x="0" y="585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41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personalized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4750" y="2000250"/>
            <a:ext cx="4476750" cy="1047750"/>
            <a:chOff x="0" y="0"/>
            <a:chExt cx="5969000" cy="139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 SET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0" y="2000250"/>
            <a:ext cx="4476750" cy="1047750"/>
            <a:chOff x="0" y="0"/>
            <a:chExt cx="5969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ELYVEX RETURNS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3286125"/>
            <a:ext cx="11430000" cy="685800"/>
            <a:chOff x="0" y="0"/>
            <a:chExt cx="15240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247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Persona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62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Five weighted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53000" y="4286250"/>
            <a:ext cx="11430000" cy="685800"/>
            <a:chOff x="0" y="0"/>
            <a:chExt cx="15240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Max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62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Above-budget phones excluded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53000" y="5286375"/>
            <a:ext cx="11430000" cy="685800"/>
            <a:chOff x="0" y="0"/>
            <a:chExt cx="1524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247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Catalog specs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Normalized, then weighted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53000" y="6286500"/>
            <a:ext cx="11430000" cy="685800"/>
            <a:chOff x="0" y="0"/>
            <a:chExt cx="152400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247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Missing spec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 points; shown as missing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3000" y="7286625"/>
            <a:ext cx="11430000" cy="685800"/>
            <a:chOff x="0" y="0"/>
            <a:chExt cx="15240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FE6E6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247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Shortlist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Ranked top five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sp>
        <p:nvSpPr>
          <p:cNvPr name="Freeform 39" id="39" descr="Screenshot of the deployed ELYVEX personalized recommendation setup"/>
          <p:cNvSpPr/>
          <p:nvPr/>
        </p:nvSpPr>
        <p:spPr>
          <a:xfrm flipH="false" flipV="false" rot="0">
            <a:off x="914400" y="2476500"/>
            <a:ext cx="5429250" cy="4076700"/>
          </a:xfrm>
          <a:custGeom>
            <a:avLst/>
            <a:gdLst/>
            <a:ahLst/>
            <a:cxnLst/>
            <a:rect r="r" b="b" t="t" l="l"/>
            <a:pathLst>
              <a:path h="4076700" w="5429250">
                <a:moveTo>
                  <a:pt x="0" y="0"/>
                </a:moveTo>
                <a:lnTo>
                  <a:pt x="5429250" y="0"/>
                </a:lnTo>
                <a:lnTo>
                  <a:pt x="54292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63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scoring rules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47825"/>
            <a:ext cx="1000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897C7F"/>
                </a:solidFill>
                <a:latin typeface="Open Sans"/>
                <a:ea typeface="Open Sans"/>
                <a:cs typeface="Open Sans"/>
                <a:sym typeface="Open Sans"/>
              </a:rPr>
              <a:t>Eligibility gate first; then a transparent persona-weighted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0500" y="2914650"/>
            <a:ext cx="8953500" cy="304800"/>
            <a:chOff x="0" y="0"/>
            <a:chExt cx="1193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0500" y="2914650"/>
            <a:ext cx="4953000" cy="304800"/>
            <a:chOff x="0" y="0"/>
            <a:chExt cx="6604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20750" y="2743200"/>
            <a:ext cx="2190750" cy="666750"/>
            <a:chOff x="0" y="0"/>
            <a:chExt cx="2921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HARD FILTER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393382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0500" y="4010025"/>
            <a:ext cx="8953500" cy="304800"/>
            <a:chOff x="0" y="0"/>
            <a:chExt cx="119380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00500" y="4010025"/>
            <a:ext cx="4953000" cy="304800"/>
            <a:chOff x="0" y="0"/>
            <a:chExt cx="66040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20750" y="3838575"/>
            <a:ext cx="2190750" cy="666750"/>
            <a:chOff x="0" y="0"/>
            <a:chExt cx="2921000" cy="88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RANGE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50292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 weights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000500" y="5105400"/>
            <a:ext cx="8953500" cy="304800"/>
            <a:chOff x="0" y="0"/>
            <a:chExt cx="119380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00500" y="5105400"/>
            <a:ext cx="4953000" cy="304800"/>
            <a:chOff x="0" y="0"/>
            <a:chExt cx="66040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20750" y="4933950"/>
            <a:ext cx="2190750" cy="666750"/>
            <a:chOff x="0" y="0"/>
            <a:chExt cx="2921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SUM = 100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612457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specs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000500" y="6200775"/>
            <a:ext cx="8953500" cy="304800"/>
            <a:chOff x="0" y="0"/>
            <a:chExt cx="119380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00500" y="6200775"/>
            <a:ext cx="4953000" cy="304800"/>
            <a:chOff x="0" y="0"/>
            <a:chExt cx="66040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0750" y="6029325"/>
            <a:ext cx="2190750" cy="666750"/>
            <a:chOff x="0" y="0"/>
            <a:chExt cx="2921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+ FLAG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14400" y="72199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Rank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00500" y="7296150"/>
            <a:ext cx="8953500" cy="304800"/>
            <a:chOff x="0" y="0"/>
            <a:chExt cx="119380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0500" y="7296150"/>
            <a:ext cx="4953000" cy="304800"/>
            <a:chOff x="0" y="0"/>
            <a:chExt cx="66040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0750" y="7124700"/>
            <a:ext cx="2190750" cy="666750"/>
            <a:chOff x="0" y="0"/>
            <a:chExt cx="2921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FIVE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8572500"/>
            <a:ext cx="14906625" cy="609600"/>
            <a:chOff x="0" y="0"/>
            <a:chExt cx="198755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8755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5500">
                  <a:moveTo>
                    <a:pt x="14607" y="0"/>
                  </a:moveTo>
                  <a:lnTo>
                    <a:pt x="19860893" y="0"/>
                  </a:lnTo>
                  <a:cubicBezTo>
                    <a:pt x="19864767" y="0"/>
                    <a:pt x="19868482" y="1539"/>
                    <a:pt x="19871221" y="4278"/>
                  </a:cubicBezTo>
                  <a:cubicBezTo>
                    <a:pt x="19873961" y="7018"/>
                    <a:pt x="19875500" y="10733"/>
                    <a:pt x="19875500" y="14607"/>
                  </a:cubicBezTo>
                  <a:lnTo>
                    <a:pt x="19875500" y="798193"/>
                  </a:lnTo>
                  <a:cubicBezTo>
                    <a:pt x="19875500" y="802067"/>
                    <a:pt x="19873961" y="805782"/>
                    <a:pt x="19871221" y="808522"/>
                  </a:cubicBezTo>
                  <a:cubicBezTo>
                    <a:pt x="19868482" y="811261"/>
                    <a:pt x="19864767" y="812800"/>
                    <a:pt x="19860893" y="812800"/>
                  </a:cubicBezTo>
                  <a:lnTo>
                    <a:pt x="14607" y="812800"/>
                  </a:lnTo>
                  <a:cubicBezTo>
                    <a:pt x="10733" y="812800"/>
                    <a:pt x="7018" y="811261"/>
                    <a:pt x="4278" y="808522"/>
                  </a:cubicBezTo>
                  <a:cubicBezTo>
                    <a:pt x="1539" y="805782"/>
                    <a:pt x="0" y="802067"/>
                    <a:pt x="0" y="798193"/>
                  </a:cubicBezTo>
                  <a:lnTo>
                    <a:pt x="0" y="14607"/>
                  </a:lnTo>
                  <a:cubicBezTo>
                    <a:pt x="0" y="10733"/>
                    <a:pt x="1539" y="7018"/>
                    <a:pt x="4278" y="4278"/>
                  </a:cubicBezTo>
                  <a:cubicBezTo>
                    <a:pt x="7018" y="1539"/>
                    <a:pt x="10733" y="0"/>
                    <a:pt x="14607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8755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= Σ (normalized available spec × persona weight)  ·  Price score is inverted; missing values are never inferred.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F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0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&amp; account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143250"/>
            <a:ext cx="3143250" cy="1238250"/>
            <a:chOff x="0" y="0"/>
            <a:chExt cx="419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 UI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095500"/>
            <a:ext cx="3143250" cy="1238250"/>
            <a:chOff x="0" y="0"/>
            <a:chExt cx="419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Shared JSON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34000" y="4476750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 endpoints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0250" y="3286125"/>
            <a:ext cx="3429000" cy="1238250"/>
            <a:chOff x="0" y="0"/>
            <a:chExt cx="4572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587500"/>
                  </a:lnTo>
                  <a:cubicBezTo>
                    <a:pt x="4572000" y="1622570"/>
                    <a:pt x="4543570" y="1651000"/>
                    <a:pt x="4508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FF9AA6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Auth + Firestore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4191000" y="2714625"/>
            <a:ext cx="1143000" cy="104775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91000" y="3762375"/>
            <a:ext cx="1143000" cy="1333500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77250" y="2714625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477250" y="3905250"/>
            <a:ext cx="1143000" cy="1190625"/>
          </a:xfrm>
          <a:prstGeom prst="line">
            <a:avLst/>
          </a:prstGeom>
          <a:ln cap="flat" w="38100">
            <a:solidFill>
              <a:srgbClr val="65091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2095500"/>
            <a:ext cx="3524250" cy="5953125"/>
            <a:chOff x="0" y="0"/>
            <a:chExt cx="4699000" cy="793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99000" cy="7937500"/>
              <a:chOff x="0" y="0"/>
              <a:chExt cx="4699000" cy="793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99000" cy="7937500"/>
              </a:xfrm>
              <a:custGeom>
                <a:avLst/>
                <a:gdLst/>
                <a:ahLst/>
                <a:cxnLst/>
                <a:rect r="r" b="b" t="t" l="l"/>
                <a:pathLst>
                  <a:path h="7937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65091E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699000" cy="797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06425"/>
              <a:ext cx="3683000" cy="443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TRUST &amp; DATA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Profile: persona, budget, categories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Access: signed-in owner only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Guest picks: local browser storage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97C7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270" strike="noStrike" u="none">
                <a:solidFill>
                  <a:srgbClr val="65091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65091E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ELYVEX Rose Curve Backplate"/>
          <p:cNvSpPr/>
          <p:nvPr/>
        </p:nvSpPr>
        <p:spPr>
          <a:xfrm>
            <a:off x="685800" y="485775"/>
            <a:ext cx="17078325" cy="1190625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33" name="ELYVEX Crimson Hero"/>
          <p:cNvSpPr/>
          <p:nvPr/>
        </p:nvSpPr>
        <p:spPr>
          <a:xfrm>
            <a:off x="523875" y="323850"/>
            <a:ext cx="17240250" cy="1352550"/>
          </a:xfrm>
          <a:prstGeom prst="roundRect">
            <a:avLst/>
          </a:prstGeom>
          <a:solidFill>
            <a:srgbClr val="A91635"/>
          </a:solidFill>
          <a:ln>
            <a:noFill/>
          </a:ln>
        </p:spPr>
      </p:sp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review, challenges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990850"/>
            <a:chOff x="0" y="0"/>
            <a:chExt cx="10033000" cy="3987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got wrong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treated likely price/spec units as confirmed.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3409950"/>
            <a:chOff x="0" y="0"/>
            <a:chExt cx="10033000" cy="4546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4546600"/>
              <a:chOff x="0" y="0"/>
              <a:chExt cx="10033000" cy="4546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4546600"/>
              </a:xfrm>
              <a:custGeom>
                <a:avLst/>
                <a:gdLst/>
                <a:ahLst/>
                <a:cxnLst/>
                <a:rect r="r" b="b" t="t" l="l"/>
                <a:pathLst>
                  <a:path h="45466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4546600"/>
                    </a:lnTo>
                    <a:lnTo>
                      <a:pt x="0" y="45466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458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we caught it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93825"/>
              <a:ext cx="8763000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Checked every claim against the source workbook notes; currency and several units are unconfirmed.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334000"/>
            <a:ext cx="7524750" cy="2990850"/>
            <a:chOff x="0" y="0"/>
            <a:chExt cx="10033000" cy="3987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86112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A9163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Mixed field formats and no per-phone source links make verification harder.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334000"/>
            <a:ext cx="7524750" cy="2990850"/>
            <a:chOff x="0" y="0"/>
            <a:chExt cx="10033000" cy="398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FF9A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65091E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 next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65091E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with sellers; add sources and freshness dates; test rankings with users.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6509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ELYVEX Rose Curve Backplate"/>
          <p:cNvSpPr/>
          <p:nvPr/>
        </p:nvSpPr>
        <p:spPr>
          <a:xfrm>
            <a:off x="781050" y="1257300"/>
            <a:ext cx="11144250" cy="7124700"/>
          </a:xfrm>
          <a:prstGeom prst="roundRect">
            <a:avLst/>
          </a:prstGeom>
          <a:solidFill>
            <a:srgbClr val="FF9AA6"/>
          </a:solidFill>
          <a:ln>
            <a:noFill/>
          </a:ln>
        </p:spPr>
      </p:sp>
      <p:sp>
        <p:nvSpPr>
          <p:cNvPr id="22" name="ELYVEX Crimson Hero"/>
          <p:cNvSpPr/>
          <p:nvPr/>
        </p:nvSpPr>
        <p:spPr>
          <a:xfrm>
            <a:off x="628650" y="1104900"/>
            <a:ext cx="11144250" cy="7124700"/>
          </a:xfrm>
          <a:prstGeom prst="roundRect">
            <a:avLst/>
          </a:prstGeom>
          <a:solidFill>
            <a:srgbClr val="861129"/>
          </a:solidFill>
          <a:ln>
            <a:noFill/>
          </a:ln>
        </p:spPr>
      </p:sp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8750" y="1143000"/>
            <a:ext cx="4000500" cy="7239000"/>
            <a:chOff x="0" y="0"/>
            <a:chExt cx="5334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0750" y="1809750"/>
            <a:ext cx="2476500" cy="5905500"/>
            <a:chOff x="0" y="0"/>
            <a:chExt cx="330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30300" y="2190750"/>
            <a:ext cx="2057400" cy="5143500"/>
            <a:chOff x="0" y="0"/>
            <a:chExt cx="2743200" cy="685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A9163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32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943100"/>
            <a:ext cx="1066800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7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priorities. Honest data. Better phone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676900"/>
            <a:ext cx="66675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9AA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115175"/>
            <a:ext cx="7620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DEMO  ·  pj-1-five.vercel.app  ·  Better choices begin here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86112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27191D"/>
      </a:dk1>
      <a:lt1>
        <a:sysClr val="window" lastClr="FFFFFF"/>
      </a:lt1>
      <a:dk2>
        <a:srgbClr val="A91635"/>
      </a:dk2>
      <a:lt2>
        <a:srgbClr val="FFF5F4"/>
      </a:lt2>
      <a:accent1>
        <a:srgbClr val="861129"/>
      </a:accent1>
      <a:accent2>
        <a:srgbClr val="FF304B"/>
      </a:accent2>
      <a:accent3>
        <a:srgbClr val="FF9AA6"/>
      </a:accent3>
      <a:accent4>
        <a:srgbClr val="65091E"/>
      </a:accent4>
      <a:accent5>
        <a:srgbClr val="A91635"/>
      </a:accent5>
      <a:accent6>
        <a:srgbClr val="FF304B"/>
      </a:accent6>
      <a:hlink>
        <a:srgbClr val="FF304B"/>
      </a:hlink>
      <a:folHlink>
        <a:srgbClr val="6509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27191D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27191D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DAHZgdejGcg</dc:identifier>
  <dcterms:modified xsi:type="dcterms:W3CDTF">2011-08-01T06:04:30Z</dcterms:modified>
  <cp:revision>1</cp:revision>
  <dc:title>ELYVEX — Final Project Presentation</dc:title>
</cp:coreProperties>
</file>